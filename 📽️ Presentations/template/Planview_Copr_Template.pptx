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5" r:id="rId4"/>
  </p:sldMasterIdLst>
  <p:notesMasterIdLst>
    <p:notesMasterId r:id="rId6"/>
  </p:notesMasterIdLst>
  <p:handoutMasterIdLst>
    <p:handoutMasterId r:id="rId7"/>
  </p:handoutMasterIdLst>
  <p:sldIdLst>
    <p:sldId id="280" r:id="rId5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241B2F"/>
    <a:srgbClr val="1A1B2F"/>
    <a:srgbClr val="FF3000"/>
    <a:srgbClr val="AA142C"/>
    <a:srgbClr val="680B18"/>
    <a:srgbClr val="416276"/>
    <a:srgbClr val="333333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7" autoAdjust="0"/>
    <p:restoredTop sz="86531" autoAdjust="0"/>
  </p:normalViewPr>
  <p:slideViewPr>
    <p:cSldViewPr snapToGrid="0">
      <p:cViewPr varScale="1">
        <p:scale>
          <a:sx n="147" d="100"/>
          <a:sy n="147" d="100"/>
        </p:scale>
        <p:origin x="616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1" d="100"/>
          <a:sy n="101" d="100"/>
        </p:scale>
        <p:origin x="3504" y="13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FBCF8BF-5D3D-4397-A572-61DA6417770B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01B7F2A-8D28-41CD-94E5-ABA070EEC4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461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5D8F432-C364-4722-ABAC-92AED4F5101F}" type="datetimeFigureOut">
              <a:rPr lang="en-US" smtClean="0"/>
              <a:t>2/18/26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86886CF-0318-48BF-9C01-65C452E6E0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986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ALLCAPS is preferred for the main title. However, mixed-cased can be used when it makes more sense to do so. For instance, when using product names (</a:t>
            </a:r>
            <a:r>
              <a:rPr lang="en-US" dirty="0" err="1"/>
              <a:t>AgilePlace</a:t>
            </a:r>
            <a:r>
              <a:rPr lang="en-US" dirty="0"/>
              <a:t>, </a:t>
            </a:r>
            <a:r>
              <a:rPr lang="en-US" dirty="0" err="1"/>
              <a:t>AdaptiveWork</a:t>
            </a:r>
            <a:r>
              <a:rPr lang="en-US" dirty="0"/>
              <a:t>, </a:t>
            </a:r>
            <a:r>
              <a:rPr lang="en-US" dirty="0" err="1"/>
              <a:t>IdeaPlace</a:t>
            </a:r>
            <a:r>
              <a:rPr lang="en-US" dirty="0"/>
              <a:t>, </a:t>
            </a:r>
            <a:r>
              <a:rPr lang="en-US" dirty="0" err="1"/>
              <a:t>SAFe</a:t>
            </a:r>
            <a:r>
              <a:rPr lang="en-US" dirty="0"/>
              <a:t>).</a:t>
            </a:r>
          </a:p>
          <a:p>
            <a:br>
              <a:rPr lang="en-US" dirty="0"/>
            </a:br>
            <a:r>
              <a:rPr lang="en-US" dirty="0"/>
              <a:t>For questions or suggestions</a:t>
            </a:r>
            <a:r>
              <a:rPr lang="en-US" baseline="0" dirty="0"/>
              <a:t> about this template, contact Barron Fujimoto (bfujimoto@planview.com).</a:t>
            </a:r>
          </a:p>
          <a:p>
            <a:r>
              <a:rPr lang="en-US" dirty="0"/>
              <a:t>Updated 2025-01-06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6886CF-0318-48BF-9C01-65C452E6E03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6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FC4362-09E7-4044-A29B-44EA2F039D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906" y="2085937"/>
            <a:ext cx="6173481" cy="553998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400" b="1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907" y="2862078"/>
            <a:ext cx="6173479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7910" y="3581001"/>
            <a:ext cx="3827843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Presenter's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45C49-F064-4717-85DE-7C229A7EAB28}"/>
              </a:ext>
            </a:extLst>
          </p:cNvPr>
          <p:cNvSpPr txBox="1"/>
          <p:nvPr/>
        </p:nvSpPr>
        <p:spPr>
          <a:xfrm>
            <a:off x="94345" y="4869682"/>
            <a:ext cx="22349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02A7A4-C558-47EE-854C-179F08F547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2057" y="356068"/>
            <a:ext cx="1270965" cy="35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79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8328" y="1005840"/>
            <a:ext cx="8439912" cy="3813012"/>
          </a:xfrm>
        </p:spPr>
        <p:txBody>
          <a:bodyPr lIns="91440" tIns="91440" rIns="91440" b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z="180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tx1">
                  <a:lumMod val="75000"/>
                </a:schemeClr>
              </a:buClr>
              <a:defRPr sz="160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75000"/>
                </a:schemeClr>
              </a:buClr>
              <a:defRPr sz="1400" spc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24637"/>
          </a:xfrm>
          <a:prstGeom prst="rect">
            <a:avLst/>
          </a:prstGeom>
        </p:spPr>
        <p:txBody>
          <a:bodyPr vert="horz" lIns="91440" tIns="91440" rIns="91440" bIns="91440" rtlCol="0" anchor="t" anchorCtr="0">
            <a:noAutofit/>
          </a:bodyPr>
          <a:lstStyle>
            <a:lvl1pPr>
              <a:defRPr sz="28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665E9-CF69-42A3-BEE5-208BE775C9F7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0CC2E0-1D0F-43FA-B4B6-C7C8D07EA4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3466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-Alterna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A60F1395-682F-4AE2-A3A7-25B4ABE0CC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907" y="1716605"/>
            <a:ext cx="3827846" cy="923330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400" b="1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908" y="2862078"/>
            <a:ext cx="3827846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57910" y="3581001"/>
            <a:ext cx="3827843" cy="400110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Presenter's 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45C49-F064-4717-85DE-7C229A7EAB28}"/>
              </a:ext>
            </a:extLst>
          </p:cNvPr>
          <p:cNvSpPr txBox="1"/>
          <p:nvPr/>
        </p:nvSpPr>
        <p:spPr>
          <a:xfrm>
            <a:off x="94345" y="4869682"/>
            <a:ext cx="22349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02A7A4-C558-47EE-854C-179F08F547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52057" y="356068"/>
            <a:ext cx="1270965" cy="35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71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5211"/>
          </a:xfrm>
        </p:spPr>
        <p:txBody>
          <a:bodyPr/>
          <a:lstStyle>
            <a:lvl1pPr>
              <a:defRPr sz="2800" kern="0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8328" y="1005840"/>
            <a:ext cx="4114800" cy="349380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kern="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kern="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kern="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kern="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400" kern="0" spc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5200" y="1005840"/>
            <a:ext cx="4114800" cy="349380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kern="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kern="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kern="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kern="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400" kern="0" spc="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1D5425-0635-40BE-B44F-6C576BB8AF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8A0070-2986-4C65-90D2-7C5B4EFC0619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7123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3154"/>
          </a:xfrm>
        </p:spPr>
        <p:txBody>
          <a:bodyPr/>
          <a:lstStyle>
            <a:lvl1pPr>
              <a:defRPr sz="28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328" y="1005840"/>
            <a:ext cx="411480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400" b="0" spc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328" y="1554480"/>
            <a:ext cx="4114800" cy="334638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0080" y="1005840"/>
            <a:ext cx="411480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400" b="0" kern="1200" spc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0080" y="1554480"/>
            <a:ext cx="4114800" cy="334638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400" spc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2000" spc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800" spc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defRPr sz="1600" spc="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1C231F-AB32-40C9-AE13-0DF833031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C3E77B1-F102-4237-A033-2065A9729D82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29187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82A8F1-3C97-492D-B3EB-5E8137AE85A5}"/>
              </a:ext>
            </a:extLst>
          </p:cNvPr>
          <p:cNvSpPr/>
          <p:nvPr userDrawn="1"/>
        </p:nvSpPr>
        <p:spPr>
          <a:xfrm>
            <a:off x="0" y="0"/>
            <a:ext cx="319405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F98DB5-E6C7-41C7-A41A-11EDBE7B23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0" y="0"/>
            <a:ext cx="914400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77E6440-AD53-40A7-B2ED-BDC396C02035}"/>
              </a:ext>
            </a:extLst>
          </p:cNvPr>
          <p:cNvSpPr txBox="1"/>
          <p:nvPr userDrawn="1"/>
        </p:nvSpPr>
        <p:spPr>
          <a:xfrm>
            <a:off x="713543" y="2226343"/>
            <a:ext cx="1896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cap="all" spc="0" baseline="0" dirty="0">
                <a:solidFill>
                  <a:schemeClr val="bg1"/>
                </a:solidFill>
                <a:latin typeface="+mj-lt"/>
              </a:rPr>
              <a:t>Agenda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7AAB3A-39A8-4359-9426-270AE9B968E2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FB9FDB-84ED-4182-872C-A116F3AF83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2ED9BC-E248-4955-A50E-F1302F3541A4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cap="all" baseline="0" dirty="0">
              <a:solidFill>
                <a:schemeClr val="tx1"/>
              </a:solidFill>
            </a:endParaRPr>
          </a:p>
        </p:txBody>
      </p:sp>
      <p:pic>
        <p:nvPicPr>
          <p:cNvPr id="6" name="Picture 5" descr="A picture containing outdoor object&#10;&#10;Description automatically generated">
            <a:extLst>
              <a:ext uri="{FF2B5EF4-FFF2-40B4-BE49-F238E27FC236}">
                <a16:creationId xmlns:a16="http://schemas.microsoft.com/office/drawing/2014/main" id="{C92D38CB-A251-4242-B19C-FAEA57F164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907" y="1716605"/>
            <a:ext cx="3827846" cy="923330"/>
          </a:xfrm>
        </p:spPr>
        <p:txBody>
          <a:bodyPr wrap="square" anchor="b">
            <a:spAutoFit/>
          </a:bodyPr>
          <a:lstStyle>
            <a:lvl1pPr algn="l">
              <a:lnSpc>
                <a:spcPct val="100000"/>
              </a:lnSpc>
              <a:defRPr sz="2400" b="1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908" y="2862078"/>
            <a:ext cx="3827846" cy="461665"/>
          </a:xfrm>
        </p:spPr>
        <p:txBody>
          <a:bodyPr wrap="square" anchor="b" anchorCtr="0">
            <a:spAutoFit/>
          </a:bodyPr>
          <a:lstStyle>
            <a:lvl1pPr marL="0" indent="0" algn="l">
              <a:buNone/>
              <a:defRPr sz="1800" spc="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73A5F2-9C4A-454B-81F4-9A4ABAA7F6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0E6488-1185-4DA1-8EF4-A81B32405DB2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4436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3154"/>
          </a:xfrm>
        </p:spPr>
        <p:txBody>
          <a:bodyPr/>
          <a:lstStyle>
            <a:lvl1pPr>
              <a:defRPr sz="2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58FC4-979D-41D6-8E48-997E9CFF02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EECD70-8FDB-4872-8F52-7B36412135AB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451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B06BCC-1E9F-4AAF-BC83-8BB0010B1D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70296" y="4726929"/>
            <a:ext cx="1130624" cy="3118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78104F-E218-4A87-8553-901ADDA98E7A}"/>
              </a:ext>
            </a:extLst>
          </p:cNvPr>
          <p:cNvSpPr txBox="1"/>
          <p:nvPr userDrawn="1"/>
        </p:nvSpPr>
        <p:spPr>
          <a:xfrm>
            <a:off x="94345" y="4869682"/>
            <a:ext cx="25747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© 2025 PLANVIEW, INC.  //  CONFIDENTIAL  //  </a:t>
            </a:r>
            <a:fld id="{76BA2F34-BB44-4E0A-B2F1-0EA6499A13DF}" type="slidenum">
              <a:rPr lang="en-US" sz="600" spc="100" baseline="0" smtClean="0">
                <a:solidFill>
                  <a:schemeClr val="bg1">
                    <a:lumMod val="50000"/>
                  </a:schemeClr>
                </a:solidFill>
              </a:rPr>
              <a:pPr/>
              <a:t>‹#›</a:t>
            </a:fld>
            <a:r>
              <a:rPr lang="en-US" sz="600" spc="10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930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8328" y="288036"/>
            <a:ext cx="8439912" cy="543154"/>
          </a:xfrm>
          <a:prstGeom prst="rect">
            <a:avLst/>
          </a:prstGeom>
        </p:spPr>
        <p:txBody>
          <a:bodyPr vert="horz" lIns="91440" tIns="91440" rIns="91440" bIns="9144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328" y="1005840"/>
            <a:ext cx="8439912" cy="3143707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4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27" r:id="rId2"/>
    <p:sldLayoutId id="2147483834" r:id="rId3"/>
    <p:sldLayoutId id="2147483828" r:id="rId4"/>
    <p:sldLayoutId id="2147483829" r:id="rId5"/>
    <p:sldLayoutId id="2147483836" r:id="rId6"/>
    <p:sldLayoutId id="2147483826" r:id="rId7"/>
    <p:sldLayoutId id="2147483832" r:id="rId8"/>
    <p:sldLayoutId id="2147483833" r:id="rId9"/>
  </p:sldLayoutIdLst>
  <p:hf hdr="0" dt="0"/>
  <p:txStyles>
    <p:titleStyle>
      <a:lvl1pPr algn="ctr" defTabSz="914400" rtl="0" eaLnBrk="1" latinLnBrk="0" hangingPunct="1">
        <a:lnSpc>
          <a:spcPts val="2800"/>
        </a:lnSpc>
        <a:spcBef>
          <a:spcPct val="0"/>
        </a:spcBef>
        <a:buNone/>
        <a:defRPr sz="3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85000"/>
        <a:buFont typeface="Arial" pitchFamily="34" charset="0"/>
        <a:buChar char="•"/>
        <a:defRPr sz="2600" kern="1200" spc="-30">
          <a:solidFill>
            <a:srgbClr val="241B2F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85000"/>
        <a:buFont typeface="Arial" pitchFamily="34" charset="0"/>
        <a:buChar char="•"/>
        <a:defRPr sz="2000" kern="1200" spc="-30">
          <a:solidFill>
            <a:srgbClr val="241B2F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90000"/>
        <a:buFont typeface="Arial" pitchFamily="34" charset="0"/>
        <a:buChar char="•"/>
        <a:defRPr sz="1800" kern="1200" spc="-30">
          <a:solidFill>
            <a:srgbClr val="241B2F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Font typeface="Arial" pitchFamily="34" charset="0"/>
        <a:buChar char="•"/>
        <a:defRPr sz="1600" kern="1200" spc="-30">
          <a:solidFill>
            <a:srgbClr val="241B2F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tx1">
            <a:lumMod val="75000"/>
          </a:schemeClr>
        </a:buClr>
        <a:buSzPct val="100000"/>
        <a:buFont typeface="Arial" pitchFamily="34" charset="0"/>
        <a:buChar char="•"/>
        <a:defRPr sz="1400" kern="1200" spc="-30" baseline="0">
          <a:solidFill>
            <a:srgbClr val="241B2F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B1D863-3B3E-44A2-984B-A66959B78B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cap="all" dirty="0"/>
              <a:t>Connect your Business from </a:t>
            </a:r>
            <a:r>
              <a:rPr lang="en-US" b="1" i="1" cap="all" dirty="0"/>
              <a:t>Ideas to Impact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F7D8153C-358D-4256-B8BB-0CC7760EDA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endParaRPr lang="en-US" sz="1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John Kimble</a:t>
            </a:r>
          </a:p>
        </p:txBody>
      </p:sp>
    </p:spTree>
    <p:extLst>
      <p:ext uri="{BB962C8B-B14F-4D97-AF65-F5344CB8AC3E}">
        <p14:creationId xmlns:p14="http://schemas.microsoft.com/office/powerpoint/2010/main" val="24267887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lanview 2022-06">
  <a:themeElements>
    <a:clrScheme name="Planview v.226">
      <a:dk1>
        <a:srgbClr val="000000"/>
      </a:dk1>
      <a:lt1>
        <a:srgbClr val="FFFFFF"/>
      </a:lt1>
      <a:dk2>
        <a:srgbClr val="000000"/>
      </a:dk2>
      <a:lt2>
        <a:srgbClr val="B60001"/>
      </a:lt2>
      <a:accent1>
        <a:srgbClr val="780009"/>
      </a:accent1>
      <a:accent2>
        <a:srgbClr val="E2251B"/>
      </a:accent2>
      <a:accent3>
        <a:srgbClr val="6A94AA"/>
      </a:accent3>
      <a:accent4>
        <a:srgbClr val="451F55"/>
      </a:accent4>
      <a:accent5>
        <a:srgbClr val="09AA61"/>
      </a:accent5>
      <a:accent6>
        <a:srgbClr val="FFAC47"/>
      </a:accent6>
      <a:hlink>
        <a:srgbClr val="6A94AA"/>
      </a:hlink>
      <a:folHlink>
        <a:srgbClr val="9EBAC7"/>
      </a:folHlink>
    </a:clrScheme>
    <a:fontScheme name="Planview Corporate 2024.08">
      <a:majorFont>
        <a:latin typeface="Nunito Sans ExtraBold"/>
        <a:ea typeface=""/>
        <a:cs typeface=""/>
      </a:majorFont>
      <a:minorFont>
        <a:latin typeface="Nunito Sans"/>
        <a:ea typeface=""/>
        <a:cs typeface="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view Corporate Template-2025" id="{1225DB8A-889D-E849-BED0-1687F1D235EC}" vid="{AB1471AD-DB8E-DC4C-85B9-45567750A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53fc2c-21a9-41da-abde-654e206aef17" xsi:nil="true"/>
    <lcf76f155ced4ddcb4097134ff3c332f xmlns="12a00a20-e59b-4123-aa5e-4993c905b9e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2FC95DF7981C49B7C9402517F29D77" ma:contentTypeVersion="18" ma:contentTypeDescription="Create a new document." ma:contentTypeScope="" ma:versionID="48f3e87bf58c30403c54e6b2f64c77d0">
  <xsd:schema xmlns:xsd="http://www.w3.org/2001/XMLSchema" xmlns:xs="http://www.w3.org/2001/XMLSchema" xmlns:p="http://schemas.microsoft.com/office/2006/metadata/properties" xmlns:ns2="0653fc2c-21a9-41da-abde-654e206aef17" xmlns:ns3="12a00a20-e59b-4123-aa5e-4993c905b9ee" targetNamespace="http://schemas.microsoft.com/office/2006/metadata/properties" ma:root="true" ma:fieldsID="ac5a14e38aeed0d0a8ead320191579cc" ns2:_="" ns3:_="">
    <xsd:import namespace="0653fc2c-21a9-41da-abde-654e206aef17"/>
    <xsd:import namespace="12a00a20-e59b-4123-aa5e-4993c905b9e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53fc2c-21a9-41da-abde-654e206aef1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3fa7527b-accc-42b6-94a5-ae8b3d8540b8}" ma:internalName="TaxCatchAll" ma:showField="CatchAllData" ma:web="0653fc2c-21a9-41da-abde-654e206aef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a00a20-e59b-4123-aa5e-4993c905b9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b6e50ebb-72d7-4183-9749-0a80cbc752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F295AE-7EFF-45F8-B4C5-338BA642B521}">
  <ds:schemaRefs>
    <ds:schemaRef ds:uri="http://www.w3.org/XML/1998/namespace"/>
    <ds:schemaRef ds:uri="http://purl.org/dc/terms/"/>
    <ds:schemaRef ds:uri="0653fc2c-21a9-41da-abde-654e206aef17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12a00a20-e59b-4123-aa5e-4993c905b9ee"/>
    <ds:schemaRef ds:uri="http://purl.org/dc/elements/1.1/"/>
    <ds:schemaRef ds:uri="http://purl.org/dc/dcmitype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E383416-A773-40E4-B464-D72CA94C58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B546C9-37BC-45FE-97F7-7A729A09DD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53fc2c-21a9-41da-abde-654e206aef17"/>
    <ds:schemaRef ds:uri="12a00a20-e59b-4123-aa5e-4993c905b9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Planview 2022-06</Template>
  <TotalTime>0</TotalTime>
  <Words>79</Words>
  <Application>Microsoft Macintosh PowerPoint</Application>
  <PresentationFormat>On-screen Show (16:9)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Nunito Sans</vt:lpstr>
      <vt:lpstr>Nunito Sans ExtraBold</vt:lpstr>
      <vt:lpstr>Planview 2022-06</vt:lpstr>
      <vt:lpstr>Connect your Business from Ideas to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High</dc:creator>
  <cp:lastModifiedBy>Jon High</cp:lastModifiedBy>
  <cp:revision>1</cp:revision>
  <cp:lastPrinted>2014-11-05T21:33:59Z</cp:lastPrinted>
  <dcterms:created xsi:type="dcterms:W3CDTF">2026-02-18T22:04:53Z</dcterms:created>
  <dcterms:modified xsi:type="dcterms:W3CDTF">2026-02-18T22:05:25Z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0x0101009B2FC95DF7981C49B7C9402517F29D77</vt:lpwstr>
  </property>
  <property fmtid="{D5CDD505-2E9C-101B-9397-08002B2CF9AE}" pid="3" name="Order">
    <vt:r8>33500</vt:r8>
  </property>
  <property fmtid="{D5CDD505-2E9C-101B-9397-08002B2CF9AE}" pid="4" name="MediaServiceImageTags">
    <vt:lpwstr/>
  </property>
</Properties>
</file>